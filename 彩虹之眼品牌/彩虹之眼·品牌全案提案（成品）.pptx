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2031949" y="0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0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0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7797" y="0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7" name="Shape 5"/>
          <p:cNvSpPr/>
          <p:nvPr/>
        </p:nvSpPr>
        <p:spPr>
          <a:xfrm>
            <a:off x="10159746" y="0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STRATEGY PROPOSAL · 2026</a:t>
            </a:r>
            <a:endParaRPr lang="en-US" sz="1300" dirty="0"/>
          </a:p>
        </p:txBody>
      </p:sp>
      <p:pic>
        <p:nvPicPr>
          <p:cNvPr id="9" name="Image 0" descr="D:/xwechat_files/wxid_y1yifi5pdugi22_5fa7/msg/file/2026-04/彩虹之眼logo/宣传log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506" y="1496187"/>
            <a:ext cx="2715768" cy="203682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3794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彩虹之眼</a:t>
            </a:r>
            <a:endParaRPr lang="en-US" sz="5800" dirty="0"/>
          </a:p>
        </p:txBody>
      </p:sp>
      <p:sp>
        <p:nvSpPr>
          <p:cNvPr id="11" name="Text 8"/>
          <p:cNvSpPr/>
          <p:nvPr/>
        </p:nvSpPr>
        <p:spPr>
          <a:xfrm>
            <a:off x="0" y="47091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C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品牌全案提案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RAINBOW EYE · AI 情报组织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0" y="5897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A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神秘而强大的 AI 信息与应用服务平台 · 从战略到落地的品牌建设蓝图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全案总览 · 四层结构，一页看懂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42062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15184" cy="128016"/>
          </a:xfrm>
          <a:prstGeom prst="rect">
            <a:avLst/>
          </a:prstGeom>
          <a:solidFill>
            <a:srgbClr val="1A183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品牌战略层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我是谁 · 对谁说 · 说什么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调研分析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定位体系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架构规划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8144" y="1691640"/>
            <a:ext cx="2615184" cy="42062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38144" y="1691640"/>
            <a:ext cx="2615184" cy="128016"/>
          </a:xfrm>
          <a:prstGeom prst="rect">
            <a:avLst/>
          </a:prstGeom>
          <a:solidFill>
            <a:srgbClr val="5B4BE0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66744" y="29260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品牌表达层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66744" y="34290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怎么呈现 · 怎么说话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66744" y="4023360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视觉识别 VI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语言体系 ToV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7648" y="1691640"/>
            <a:ext cx="2615184" cy="42062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691640"/>
            <a:ext cx="2615184" cy="128016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18" name="Text 16"/>
          <p:cNvSpPr/>
          <p:nvPr/>
        </p:nvSpPr>
        <p:spPr>
          <a:xfrm>
            <a:off x="6556248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56248" y="29260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落地执行层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56248" y="34290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怎么干 · 花多少 · 怎么衡量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56248" y="4023360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传播策略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营销推广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体验设计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管理规范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17152" y="1691640"/>
            <a:ext cx="2615184" cy="420624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17152" y="1691640"/>
            <a:ext cx="2615184" cy="128016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24" name="Text 22"/>
          <p:cNvSpPr/>
          <p:nvPr/>
        </p:nvSpPr>
        <p:spPr>
          <a:xfrm>
            <a:off x="9445752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5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9445752" y="29260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交付物汇总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45752" y="342900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× 文档，交付一目了然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45752" y="4023360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五大阶段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核心交付文档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管理规范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2031949" y="0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0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0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7797" y="0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7" name="Shape 5"/>
          <p:cNvSpPr/>
          <p:nvPr/>
        </p:nvSpPr>
        <p:spPr>
          <a:xfrm>
            <a:off x="10159746" y="0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STRATEGY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品牌战略层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解决「我是谁、对谁说、说什么」  ·  RAINBOW EYE · 品牌全案提案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调研与分析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品牌调研与洞察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一切品牌决策，始于对市场、用户与对手的清醒认知。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18872" cy="21488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756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市场调研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41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信息爆炸时代，筛选与解释成为稀缺能力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0720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AI 工具与信息呈指数级增长，用户陷入「信息过载」困境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大量账号做 AI 新闻搬运，但缺乏系统化解释能力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机会：建立「三层解释系统」的信息服务空白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8745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1072" y="1874520"/>
            <a:ext cx="118872" cy="2148840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611112" y="20756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消费者洞察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1112" y="2441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三类人群，三种需求，一套系统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280720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普通个体：用 AI 提效、学技能、找副业机会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中小微企业：降本增效、业务流程 AI 化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AI 从业者/创业者/投资人：产品机会、融资趋势、产业动态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251960"/>
            <a:ext cx="118872" cy="2148840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53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竞品分析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8188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对手强在速度，弱在深度与分层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1846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竞品多追热点、搬运新闻，同质化严重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普遍缺乏按人群分层的解释能力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SWOT：差异化在于「三层解释 × 结构化内容」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91072" y="425196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4251960"/>
            <a:ext cx="118872" cy="2148840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22" name="Text 20"/>
          <p:cNvSpPr/>
          <p:nvPr/>
        </p:nvSpPr>
        <p:spPr>
          <a:xfrm>
            <a:off x="6611112" y="44531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品牌现状审计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1112" y="48188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到 1 的资产起点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51846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认知度：新品牌，需抢占「看清 AI」心智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资产：命名意象强（彩虹+眼），Logo 记忆点高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问题：需把丰富内容体系落成可感知的品牌形象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核心定位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品牌核心定位体系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定位是品牌的「宪法」——一句话说清，然后全部照此执行。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1A1830"/>
          </a:solidFill>
          <a:ln/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品牌定位陈述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 AI 信息淹没的个人、企业和 AI 产业从业者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，彩虹之眼是一个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情报组织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；我们通过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C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 → 解释 → 组织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三层能力，帮用户看懂 AI、用好 AI，并把 AI 接入真实工作与业务流程——因为「看清」是行动的前提。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429000"/>
            <a:ext cx="3611880" cy="10972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685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品牌核心价值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2062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筛选 Filter：从噪音中筛出真正重要的变化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解释 Explain：按人群分层讲清楚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组织 Organize：碎片变体系，持续可用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5669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三层处理能力 × 三类人群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88536" y="34290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36" y="3429000"/>
            <a:ext cx="3611880" cy="109728"/>
          </a:xfrm>
          <a:prstGeom prst="rect">
            <a:avLst/>
          </a:prstGeom>
          <a:solidFill>
            <a:srgbClr val="5B4BE0"/>
          </a:solidFill>
          <a:ln/>
        </p:spPr>
      </p:sp>
      <p:sp>
        <p:nvSpPr>
          <p:cNvPr id="15" name="Text 13"/>
          <p:cNvSpPr/>
          <p:nvPr/>
        </p:nvSpPr>
        <p:spPr>
          <a:xfrm>
            <a:off x="4544568" y="3685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使命 / 愿景 / 价值观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44568" y="42062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使命：为全球读者提供最新 AI 工具、动态和战略洞见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愿景：让每个人都能看懂 AI、用好 AI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价值观：真实 · 系统 · 共情 · 进化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28432" y="342900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8432" y="3429000"/>
            <a:ext cx="3611880" cy="10972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3685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品牌口号 Slogan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84464" y="42062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主：一眼，看穿 AI 复杂。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辅：你的 AI 情报之眼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辅：在噪声里，看见真相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故事与人群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品牌故事 · 目标人群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品牌故事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年，一群在 AI 领域深耕的人发现一个悖论：AI 信息从未如此丰富，但人却越来越看不清。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大模型在进化，工具在爆发，新闻在刷屏——但普通人不知道该信哪个，企业老板不知道该从哪开始，从业者不知道哪个信号真正重要。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于是有了彩虹之眼：以「彩虹」象征纷繁的 AI 信号光谱，以「眼」象征穿透噪声的情报之见。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我们不搬运新闻，我们建立了一套 AI 信息的解释系统——筛选、解释、组织，然后按不同人的需求，讲清楚同一个变化到底意味着什么。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98080" y="1783080"/>
            <a:ext cx="4142232" cy="4206240"/>
          </a:xfrm>
          <a:prstGeom prst="roundRect">
            <a:avLst>
              <a:gd name="adj" fmla="val 1766"/>
            </a:avLst>
          </a:prstGeom>
          <a:solidFill>
            <a:srgbClr val="1A1830"/>
          </a:solidFill>
          <a:ln/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三类目标人群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0" y="2468880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7C4D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4688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普通个体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298094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work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提效·技能·副业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3703320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3D8B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70332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42153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工作流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降本·增效·落地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4937760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F5E7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93776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产业人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544982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产业现场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机会·趋势·投资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个性与架构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品牌个性 · 业务架构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品牌个性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神秘的观察者 + 可靠的引路人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7C4D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92808" y="28346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懂行、有依据、不夸大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83464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3D8BF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2834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61688" y="28346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像朋友一样帮你理解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F5E7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11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92808" y="36118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相机造型自带亲和力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36118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1FD1D1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3611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61688" y="361188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克制表达，拒绝信息过载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53912" y="178308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82512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核心业务板块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82512" y="2331720"/>
            <a:ext cx="1280160" cy="402336"/>
          </a:xfrm>
          <a:prstGeom prst="roundRect">
            <a:avLst>
              <a:gd name="adj" fmla="val 13636"/>
            </a:avLst>
          </a:prstGeom>
          <a:solidFill>
            <a:srgbClr val="7C4D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82512" y="23317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内容媒体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23317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公众号/视频号/多平台分发 · PR 与广告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82512" y="2953512"/>
            <a:ext cx="1280160" cy="402336"/>
          </a:xfrm>
          <a:prstGeom prst="roundRect">
            <a:avLst>
              <a:gd name="adj" fmla="val 13636"/>
            </a:avLst>
          </a:prstGeom>
          <a:solidFill>
            <a:srgbClr val="3D8B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9535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赛事活动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29535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彩虹节 · AI梦工厂 Workshop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82512" y="3575304"/>
            <a:ext cx="1280160" cy="402336"/>
          </a:xfrm>
          <a:prstGeom prst="roundRect">
            <a:avLst>
              <a:gd name="adj" fmla="val 13636"/>
            </a:avLst>
          </a:prstGeom>
          <a:solidFill>
            <a:srgbClr val="1FD1D1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35753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软件业务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357530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AI情报库小程序 · AI地图订阅服务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1A1830"/>
          </a:solidFill>
          <a:ln/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4370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三大内容主线（核心栏目框架）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" y="4800600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2A254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8920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【用 AI work】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5221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面向普通个体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4400" y="549554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写作/PPT/短视频/研究/知识库/工作流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标准：必须有具体工具和使用步骤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62272" y="4800600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2A2548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9432" y="48920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【中小企业 AI 工作流】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99432" y="5221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面向传统企业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99432" y="549554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行业场景化内容 · 流程图 · 降本增效案例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标准：必须有行业场景和流程图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47304" y="4800600"/>
            <a:ext cx="3520440" cy="1481328"/>
          </a:xfrm>
          <a:prstGeom prst="roundRect">
            <a:avLst>
              <a:gd name="adj" fmla="val 3704"/>
            </a:avLst>
          </a:prstGeom>
          <a:solidFill>
            <a:srgbClr val="2A2548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84464" y="48920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【AI 产业现场】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84464" y="5221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面向产业从业者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284464" y="5495544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事件/公司/产品/投资逻辑分析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标准：必须有事件、公司、产品和投资逻辑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5" name="Shape 43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47" name="Shape 45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48" name="Shape 46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49" name="Shape 47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竞争壁垒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竞争壁垒与护城河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彩虹之眼的护城河不是「信息更全」，而是「解释更准、结构更清、转化更强」。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核心差异化：三层解释系统 — 同一条 AI 信息，拆成三种内容形态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3520440" cy="1325880"/>
          </a:xfrm>
          <a:prstGeom prst="roundRect">
            <a:avLst>
              <a:gd name="adj" fmla="val 4138"/>
            </a:avLst>
          </a:prstGeom>
          <a:solidFill>
            <a:srgbClr val="2A254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个人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它能帮我做什么工作？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怎么上手？哪些说法是夸大的？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62272" y="2377440"/>
            <a:ext cx="3520440" cy="1325880"/>
          </a:xfrm>
          <a:prstGeom prst="roundRect">
            <a:avLst>
              <a:gd name="adj" fmla="val 4138"/>
            </a:avLst>
          </a:prstGeom>
          <a:solidFill>
            <a:srgbClr val="2A2548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5146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企业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288036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能不能接入业务流程？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降本增效？自研还是采购？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47304" y="2377440"/>
            <a:ext cx="3520440" cy="1325880"/>
          </a:xfrm>
          <a:prstGeom prst="roundRect">
            <a:avLst>
              <a:gd name="adj" fmla="val 4138"/>
            </a:avLst>
          </a:prstGeom>
          <a:solidFill>
            <a:srgbClr val="2A2548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25146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 · 产业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0184" y="288036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改变了什么产品机会？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冲击了谁？代表什么趋势？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23360"/>
            <a:ext cx="2615184" cy="10972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79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内容体系壁垒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三条主线持续沉淀内容矩阵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65576" y="4023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65576" y="4023360"/>
            <a:ext cx="2615184" cy="10972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48456" y="4279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用户认知壁垒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48456" y="475488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从「知道」→「理解」→「使用」的分层引导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82512" y="4023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82512" y="4023360"/>
            <a:ext cx="2615184" cy="10972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4279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数据与知识资产壁垒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65392" y="475488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工具库/公司库/人物库/案例库/工作流模板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99448" y="4023360"/>
            <a:ext cx="261518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99448" y="4023360"/>
            <a:ext cx="2615184" cy="10972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30" name="Text 28"/>
          <p:cNvSpPr/>
          <p:nvPr/>
        </p:nvSpPr>
        <p:spPr>
          <a:xfrm>
            <a:off x="9482328" y="427939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应用场景壁垒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82328" y="475488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连接真实工作与企业业务场景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2031949" y="0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0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0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7797" y="0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7" name="Shape 5"/>
          <p:cNvSpPr/>
          <p:nvPr/>
        </p:nvSpPr>
        <p:spPr>
          <a:xfrm>
            <a:off x="10159746" y="0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 · EXPRESSION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品牌表达层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解决「怎么呈现、怎么说话」  ·  RAINBOW EYE · 品牌全案提案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视觉识别 VI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品牌视觉识别系统 VI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视觉是品牌的第一印象——0.1 秒内，让用户认出并记住你。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pic>
        <p:nvPicPr>
          <p:cNvPr id="6" name="Image 0" descr="D:/xwechat_files/wxid_y1yifi5pdugi22_5fa7/msg/file/2026-04/彩虹之眼logo/宣传log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756" y="1827657"/>
            <a:ext cx="1709928" cy="12824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 Logo 标记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 + 彩虹之眼 · 含简化版 / 反白版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73883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80560" y="1920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色彩体系 Color System（匹配 Logo 彩虹光谱）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80560" y="2331720"/>
            <a:ext cx="1097280" cy="822960"/>
          </a:xfrm>
          <a:prstGeom prst="roundRect">
            <a:avLst>
              <a:gd name="adj" fmla="val 5556"/>
            </a:avLst>
          </a:prstGeom>
          <a:solidFill>
            <a:srgbClr val="7C4DFF"/>
          </a:solidFill>
          <a:ln/>
        </p:spPr>
      </p:sp>
      <p:sp>
        <p:nvSpPr>
          <p:cNvPr id="12" name="Text 9"/>
          <p:cNvSpPr/>
          <p:nvPr/>
        </p:nvSpPr>
        <p:spPr>
          <a:xfrm>
            <a:off x="438912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 Violet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32704" y="2331720"/>
            <a:ext cx="1097280" cy="822960"/>
          </a:xfrm>
          <a:prstGeom prst="roundRect">
            <a:avLst>
              <a:gd name="adj" fmla="val 5556"/>
            </a:avLst>
          </a:prstGeom>
          <a:solidFill>
            <a:srgbClr val="3D8BFF"/>
          </a:solidFill>
          <a:ln/>
        </p:spPr>
      </p:sp>
      <p:sp>
        <p:nvSpPr>
          <p:cNvPr id="14" name="Text 11"/>
          <p:cNvSpPr/>
          <p:nvPr/>
        </p:nvSpPr>
        <p:spPr>
          <a:xfrm>
            <a:off x="5541264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Blue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84848" y="2331720"/>
            <a:ext cx="1097280" cy="822960"/>
          </a:xfrm>
          <a:prstGeom prst="roundRect">
            <a:avLst>
              <a:gd name="adj" fmla="val 5556"/>
            </a:avLst>
          </a:prstGeom>
          <a:solidFill>
            <a:srgbClr val="1FD1D1"/>
          </a:solidFill>
          <a:ln/>
        </p:spPr>
      </p:sp>
      <p:sp>
        <p:nvSpPr>
          <p:cNvPr id="16" name="Text 13"/>
          <p:cNvSpPr/>
          <p:nvPr/>
        </p:nvSpPr>
        <p:spPr>
          <a:xfrm>
            <a:off x="6693408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 Cyan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936992" y="2331720"/>
            <a:ext cx="1097280" cy="822960"/>
          </a:xfrm>
          <a:prstGeom prst="roundRect">
            <a:avLst>
              <a:gd name="adj" fmla="val 5556"/>
            </a:avLst>
          </a:prstGeom>
          <a:solidFill>
            <a:srgbClr val="2ED47A"/>
          </a:solidFill>
          <a:ln/>
        </p:spPr>
      </p:sp>
      <p:sp>
        <p:nvSpPr>
          <p:cNvPr id="18" name="Text 15"/>
          <p:cNvSpPr/>
          <p:nvPr/>
        </p:nvSpPr>
        <p:spPr>
          <a:xfrm>
            <a:off x="7845552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 Green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089136" y="2331720"/>
            <a:ext cx="1097280" cy="822960"/>
          </a:xfrm>
          <a:prstGeom prst="roundRect">
            <a:avLst>
              <a:gd name="adj" fmla="val 5556"/>
            </a:avLst>
          </a:prstGeom>
          <a:solidFill>
            <a:srgbClr val="FFC83D"/>
          </a:solidFill>
          <a:ln/>
        </p:spPr>
      </p:sp>
      <p:sp>
        <p:nvSpPr>
          <p:cNvPr id="20" name="Text 17"/>
          <p:cNvSpPr/>
          <p:nvPr/>
        </p:nvSpPr>
        <p:spPr>
          <a:xfrm>
            <a:off x="8997696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琥珀 Amber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241280" y="2331720"/>
            <a:ext cx="1097280" cy="822960"/>
          </a:xfrm>
          <a:prstGeom prst="roundRect">
            <a:avLst>
              <a:gd name="adj" fmla="val 5556"/>
            </a:avLst>
          </a:prstGeom>
          <a:solidFill>
            <a:srgbClr val="FF5E7E"/>
          </a:solidFill>
          <a:ln/>
        </p:spPr>
      </p:sp>
      <p:sp>
        <p:nvSpPr>
          <p:cNvPr id="22" name="Text 19"/>
          <p:cNvSpPr/>
          <p:nvPr/>
        </p:nvSpPr>
        <p:spPr>
          <a:xfrm>
            <a:off x="101498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珊瑚 Coral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480560" y="3611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 墨 #1A1830｜品牌色 电光靛 #5B4BE0｜中性 月白 #F6F5FB｜光谱色用于数据可视化、重点高亮与分类标识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42062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字体系统 Typography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7240" y="4754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 彩虹之眼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中文标题 思源黑体 / 微软雅黑 Heavy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RAINBOW EYE 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 Montserrat / Arial Black · 正文 Inter / Calibri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6172200" y="4206240"/>
            <a:ext cx="54681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0080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图形与图像风格 Graphic &amp; Image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00800" y="4754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母题：相机镜头 / 彩虹光谱弧 / 同心圆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摄影：高对比暗调 + 一束彩色光，科技感+温度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图标：圆角线性 + 单色填充，友好有趣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1" name="Shape 28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33" name="Shape 30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35" name="Shape 32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语言体系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品牌语言体系 Tone of Voice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语言是品牌的第二张脸——统一「怎么说」，才能被持续认出。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67128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7C4D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671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· 默认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「基于 OpenAI 最新发布，我们梳理出对你工作的 3 个实际影响。」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18745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167128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3D8BFF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1671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 · 亲切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7032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「别急，我们先把最重要的那个变化挑出来给你。」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767328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5E7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67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有趣 · 社媒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3749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「世界很吵，但我们帮你看清——而且不收门票。」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1072" y="3474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5392" y="3767328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C8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3767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犀利 · 观点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57032" y="3749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「更多 AI 新闻不等于更聪明。看清，才是。」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A1830"/>
          </a:solidFill>
          <a:ln/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2303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品牌词典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68880" y="5230368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专属词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情报组织 · 筛选·解释·组织 · 一眼看穿 · 信号 · 噪声 · 三层解释</a:t>
            </a:r>
            <a:pPr indent="0" marL="0">
              <a:buNone/>
            </a:pPr>
            <a:r>
              <a:rPr lang="en-US" sz="1200" b="1" dirty="0">
                <a:solidFill>
                  <a:srgbClr val="FF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禁用词  </a:t>
            </a:r>
            <a:pPr indent="0" marL="0">
              <a:buNone/>
            </a:pPr>
            <a:r>
              <a:rPr lang="en-US" sz="1200" dirty="0">
                <a:solidFill>
                  <a:srgbClr val="C9C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颠覆 · 赋能（滥用）· 闭环（空洞）· 抢占心智 · 颠覆性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2031949" y="0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0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0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7797" y="0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7" name="Shape 5"/>
          <p:cNvSpPr/>
          <p:nvPr/>
        </p:nvSpPr>
        <p:spPr>
          <a:xfrm>
            <a:off x="10159746" y="0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 · EXECUTION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品牌落地执行层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解决「怎么干、花多少钱、怎么衡量」  ·  RAINBOW EYE · 品牌全案提案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传播策略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品牌传播策略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传播不是广撒网，而是围绕一个核心信息，反复、持续、分层地讲。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46704" y="18288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1A1830"/>
          </a:solidFill>
          <a:ln/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46704" y="1901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核心信息 Core Message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46704" y="21762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彩虹之眼，让你一眼看穿 AI 的复杂。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71800"/>
            <a:ext cx="3611880" cy="10972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支撑点 1 · 筛选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 AI 信息里筛出真正重要的变化。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88536" y="2971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88536" y="2971800"/>
            <a:ext cx="3611880" cy="10972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支撑点 2 · 解释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17136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按个人/企业/产业三层，讲清楚每个变化的含义。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28432" y="29718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28432" y="2971800"/>
            <a:ext cx="3611880" cy="10972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18" name="Text 16"/>
          <p:cNvSpPr/>
          <p:nvPr/>
        </p:nvSpPr>
        <p:spPr>
          <a:xfrm>
            <a:off x="8257032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支撑点 3 · 组织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57032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碎片变体系，让你能持续学习、随时查阅。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754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5B4BE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渠道策略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腾讯系(公众号/视频号/社群/小程序) + 字节系(抖音) + PC网页(虎嗅/36kr) + 独立平台(知乎/小红书/B站)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88536" y="4572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71416" y="4754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F5E7E"/>
          </a:solidFill>
          <a:ln/>
        </p:spPr>
      </p:sp>
      <p:sp>
        <p:nvSpPr>
          <p:cNvPr id="26" name="Text 24"/>
          <p:cNvSpPr/>
          <p:nvPr/>
        </p:nvSpPr>
        <p:spPr>
          <a:xfrm>
            <a:off x="4471416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内容策略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71416" y="5257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三大栏目矩阵《用AI work》《中小企业AI工作流》《AI产业现场》· KOL/KOC 共创 · 内容生产流水线标准化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28432" y="4572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11312" y="4754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ED47A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4754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年度主题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11312" y="52578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主「看清这一年」｜Q1 看清起点 Q2 看清趋势 Q3 看清增长 Q4 看清未来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35" name="Shape 33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营销规划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年度营销与推广规划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把传播策略落成可执行的日历、Campaign 与预算排期。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2615184" cy="6400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品牌首发 · 上市传播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品牌发布会「一眼看穿 AI」· 三大栏目上线 · 首批用户案例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18745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38144" y="1874520"/>
            <a:ext cx="2615184" cy="640080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1920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66744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IP · 行业发声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66744" y="31546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AI产业白皮书 · KOL共创系列 · 小程序正式发布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27648" y="18745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874520"/>
            <a:ext cx="2615184" cy="640080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17" name="Text 15"/>
          <p:cNvSpPr/>
          <p:nvPr/>
        </p:nvSpPr>
        <p:spPr>
          <a:xfrm>
            <a:off x="6556248" y="1920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56248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用户增长 · 私域运营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56248" y="31546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彩虹节活动 · AI梦工厂Workshop · 社群分层运营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17152" y="1874520"/>
            <a:ext cx="2615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17152" y="1874520"/>
            <a:ext cx="2615184" cy="640080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22" name="Text 20"/>
          <p:cNvSpPr/>
          <p:nvPr/>
        </p:nvSpPr>
        <p:spPr>
          <a:xfrm>
            <a:off x="9445752" y="192024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445752" y="26517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年度事件 · 品牌沉淀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45752" y="315468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年度「AI信号大奖」· 品牌片 · 年度复盘与展望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1A1830"/>
          </a:solidFill>
          <a:ln/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681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媒介投放预算分配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5120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2A254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1663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286000" y="5120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品牌内容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480560" y="5120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2A2548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51663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943600" y="5120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精准投放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38160" y="512064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2A2548"/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51663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9601200" y="5120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活动事件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39" name="Shape 37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40" name="Shape 38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41" name="Shape 39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体验设计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品牌体验设计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品牌不只是被看见，更是被感受到——体验即品牌。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240280"/>
            <a:ext cx="640080" cy="64008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认知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 · 内容 · 口碑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一眼识别 + 一句说清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33472" y="2423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89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16352" y="2011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47872" y="2240280"/>
            <a:ext cx="640080" cy="64008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4787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07792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了解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07792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 · 小程序 · 客服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07792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8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步内找到答案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1184" y="2423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89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84064" y="2011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15584" y="2240280"/>
            <a:ext cx="640080" cy="640080"/>
          </a:xfrm>
          <a:prstGeom prst="ellipse">
            <a:avLst/>
          </a:prstGeom>
          <a:solidFill>
            <a:srgbClr val="1FD1D1"/>
          </a:solidFill>
          <a:ln/>
        </p:spPr>
      </p:sp>
      <p:sp>
        <p:nvSpPr>
          <p:cNvPr id="21" name="Text 19"/>
          <p:cNvSpPr/>
          <p:nvPr/>
        </p:nvSpPr>
        <p:spPr>
          <a:xfrm>
            <a:off x="581558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175504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体验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75504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 · 工具推荐 · 课程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75504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首屏即价值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68896" y="2423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890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51776" y="2011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83296" y="2240280"/>
            <a:ext cx="640080" cy="640080"/>
          </a:xfrm>
          <a:prstGeom prst="ellipse">
            <a:avLst/>
          </a:prstGeom>
          <a:solidFill>
            <a:srgbClr val="2ED47A"/>
          </a:solidFill>
          <a:ln/>
        </p:spPr>
      </p:sp>
      <p:sp>
        <p:nvSpPr>
          <p:cNvPr id="28" name="Text 26"/>
          <p:cNvSpPr/>
          <p:nvPr/>
        </p:nvSpPr>
        <p:spPr>
          <a:xfrm>
            <a:off x="808329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443216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忠诚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43216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 · 会员 · 复购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43216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D4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被记住、被奖励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36608" y="24231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890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619488" y="2011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51008" y="2240280"/>
            <a:ext cx="640080" cy="640080"/>
          </a:xfrm>
          <a:prstGeom prst="ellipse">
            <a:avLst/>
          </a:prstGeom>
          <a:solidFill>
            <a:srgbClr val="FF5E7E"/>
          </a:solidFill>
          <a:ln/>
        </p:spPr>
      </p:sp>
      <p:sp>
        <p:nvSpPr>
          <p:cNvPr id="35" name="Text 33"/>
          <p:cNvSpPr/>
          <p:nvPr/>
        </p:nvSpPr>
        <p:spPr>
          <a:xfrm>
            <a:off x="1035100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71092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传播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10928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 · UGC · 分享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10928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容易分享、有面子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4848"/>
            </a:avLst>
          </a:prstGeom>
          <a:solidFill>
            <a:srgbClr val="1A1830"/>
          </a:solidFill>
          <a:ln/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2960" y="4681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D1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体验原则 &amp; 私域运营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296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C8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每个触点统一到「彩虹之眼」识别与「专业而温暖」的感受。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5E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私域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分层运营（观察员→分析师→引路人）· 低频高质陪伴 · 情报积分会员权益。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45" name="Shape 43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46" name="Shape 44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47" name="Shape 45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2031949" y="0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0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0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7797" y="0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7" name="Shape 5"/>
          <p:cNvSpPr/>
          <p:nvPr/>
        </p:nvSpPr>
        <p:spPr>
          <a:xfrm>
            <a:off x="10159746" y="0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 · DELIVERABLES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管理规范与交付物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77240" y="5532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× 文档，交付一目了然  ·  RAINBOW EYE · 品牌全案提案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管理规范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品牌管理规范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品牌手册是「宪法」，让每个接触品牌的人，用同一套标准说话。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3611880" cy="12801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31720"/>
            <a:ext cx="731520" cy="73152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品牌手册 Brand Guidelines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整合视觉 VI + 语言 ToV + 使用规范，对内对外统一标准，含 Logo 使用禁例、色彩场景、合作方露出规范。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8536" y="1920240"/>
            <a:ext cx="3611880" cy="128016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62856" y="2331720"/>
            <a:ext cx="731520" cy="731520"/>
          </a:xfrm>
          <a:prstGeom prst="ellipse">
            <a:avLst/>
          </a:prstGeom>
          <a:solidFill>
            <a:srgbClr val="3D8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62856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品牌资产管理规范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62856" y="39776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Logo 禁例（变形/改色/加阴影/拉伸）· 色彩使用场景表 · 合作方品牌露出规范，守护资产不被稀释。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28432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28432" y="1920240"/>
            <a:ext cx="3611880" cy="128016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2331720"/>
            <a:ext cx="731520" cy="731520"/>
          </a:xfrm>
          <a:prstGeom prst="ellipse">
            <a:avLst/>
          </a:prstGeom>
          <a:solidFill>
            <a:srgbClr val="1FD1D1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02752" y="32918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品牌审批流程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2752" y="39776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对外物料经品牌审核：提交 → 24h 内反馈 → 发布，确保每次露出都符合品牌标准。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交付物汇总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项目交付物汇总清单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× 文档，交付一目了然。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118872" cy="7772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1965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市场调研报告 · 消费者洞察报告 · 竞品分析报告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洞察市场与用户，为定位提供事实依据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852928"/>
            <a:ext cx="118872" cy="777240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5292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28529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28529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品牌定位报告（定位陈述·核心价值·使命愿景·品牌故事·三类人群）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69680" y="28529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明确品牌方向与差异化价值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39896"/>
            <a:ext cx="118872" cy="777240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39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645920" y="373989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视觉表达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373989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 手册（基础系统 + 应用系统）· 品牌语调指南 ToV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0" y="373989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统一视觉与语言表达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26864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626864"/>
            <a:ext cx="118872" cy="777240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2686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D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645920" y="462686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传播执行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57600" y="462686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年度传播策略方案（Message House · 营销日历 · 渠道矩阵）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0" y="462686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落地传播与推广节奏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51383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DFF0"/>
            </a:solidFill>
            <a:prstDash val="solid"/>
          </a:ln>
          <a:effectLst>
            <a:outerShdw sx="100000" sy="100000" kx="0" ky="0" algn="bl" rotWithShape="0" blurRad="101600" dist="38100" dir="5400000">
              <a:srgbClr val="C9C4E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513832"/>
            <a:ext cx="118872" cy="777240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5138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645920" y="55138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管理规范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657600" y="55138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品牌管理手册 · 品牌使用规范 · 审批流程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69680" y="55138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长期管理品牌资产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793992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6" name="Shape 34"/>
          <p:cNvSpPr/>
          <p:nvPr/>
        </p:nvSpPr>
        <p:spPr>
          <a:xfrm>
            <a:off x="2031949" y="6793992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3898" y="6793992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5848" y="6793992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7797" y="6793992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59746" y="6793992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彩虹之眼 RAINBOW EYE · 品牌全案提案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41093" cy="6400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2031949" y="0"/>
            <a:ext cx="2041093" cy="64008"/>
          </a:xfrm>
          <a:prstGeom prst="rect">
            <a:avLst/>
          </a:prstGeom>
          <a:solidFill>
            <a:srgbClr val="3D8BFF"/>
          </a:solidFill>
          <a:ln/>
        </p:spPr>
      </p:sp>
      <p:sp>
        <p:nvSpPr>
          <p:cNvPr id="4" name="Shape 2"/>
          <p:cNvSpPr/>
          <p:nvPr/>
        </p:nvSpPr>
        <p:spPr>
          <a:xfrm>
            <a:off x="4063898" y="0"/>
            <a:ext cx="2041093" cy="64008"/>
          </a:xfrm>
          <a:prstGeom prst="rect">
            <a:avLst/>
          </a:prstGeom>
          <a:solidFill>
            <a:srgbClr val="1FD1D1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48" y="0"/>
            <a:ext cx="2041093" cy="64008"/>
          </a:xfrm>
          <a:prstGeom prst="rect">
            <a:avLst/>
          </a:prstGeom>
          <a:solidFill>
            <a:srgbClr val="2ED47A"/>
          </a:solidFill>
          <a:ln/>
        </p:spPr>
      </p:sp>
      <p:sp>
        <p:nvSpPr>
          <p:cNvPr id="6" name="Shape 4"/>
          <p:cNvSpPr/>
          <p:nvPr/>
        </p:nvSpPr>
        <p:spPr>
          <a:xfrm>
            <a:off x="8127797" y="0"/>
            <a:ext cx="2041093" cy="64008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7" name="Shape 5"/>
          <p:cNvSpPr/>
          <p:nvPr/>
        </p:nvSpPr>
        <p:spPr>
          <a:xfrm>
            <a:off x="10159746" y="0"/>
            <a:ext cx="2041093" cy="64008"/>
          </a:xfrm>
          <a:prstGeom prst="rect">
            <a:avLst/>
          </a:prstGeom>
          <a:solidFill>
            <a:srgbClr val="FF5E7E"/>
          </a:solidFill>
          <a:ln/>
        </p:spPr>
      </p:sp>
      <p:pic>
        <p:nvPicPr>
          <p:cNvPr id="8" name="Image 0" descr="D:/xwechat_files/wxid_y1yifi5pdugi22_5fa7/msg/file/2026-04/彩虹之眼logo/宣传log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8966" y="1181862"/>
            <a:ext cx="2212848" cy="16596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1FD1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让每一次传播，都为品牌资产加分。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彩虹之眼 · 从战略到落地的品牌体系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0" y="47548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4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RAINBOW EYE · AI 情报组织 · 品牌全案提案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2026-08-22T04:41:47Z</dcterms:created>
  <dcterms:modified xsi:type="dcterms:W3CDTF">2026-08-22T04:41:47Z</dcterms:modified>
</cp:coreProperties>
</file>